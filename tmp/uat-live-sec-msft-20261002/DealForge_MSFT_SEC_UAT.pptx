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ec.gov/Archives/edgar/data/789019/000156459022026876/" TargetMode="External"/><Relationship Id="rId3" Type="http://schemas.openxmlformats.org/officeDocument/2006/relationships/hyperlink" Target="https://www.sec.gov/Archives/edgar/data/789019/000095017023035122/" TargetMode="External"/><Relationship Id="rId4" Type="http://schemas.openxmlformats.org/officeDocument/2006/relationships/hyperlink" Target="https://www.sec.gov/Archives/edgar/data/789019/000095017024087843/" TargetMode="External"/><Relationship Id="rId5" Type="http://schemas.openxmlformats.org/officeDocument/2006/relationships/hyperlink" Target="https://www.sec.gov/Archives/edgar/data/789019/000095017025100235/" TargetMode="External"/><Relationship Id="rId6" Type="http://schemas.openxmlformats.org/officeDocument/2006/relationships/hyperlink" Target="https://www.sec.gov/Archives/edgar/data/789019/000119312526323660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SEC-backed MSFT financial evidence UAT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4C6DC"/>
                </a:solidFill>
              </a:defRPr>
            </a:pPr>
            <a:r>
              <a:t>M&amp;A Due Diligence Report — Microsoft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6AAC8"/>
                </a:solidFill>
              </a:defRPr>
            </a:pPr>
            <a:r>
              <a:t>Prepared by DealForge AI | October 02,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C8C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Target: Microsoft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SITUATION:</a:t>
            </a:r>
            <a:br/>
            <a:r>
              <a:t>Financial data points are recorded for FY2022, FY2023, FY2024, FY2025, FY2026.</a:t>
            </a:r>
            <a:br/>
            <a:br/>
            <a:r>
              <a:t>COMPLICATION:</a:t>
            </a:r>
            <a:br/>
            <a:r>
              <a:t>Open diligence items remain: SEC company-facts values are extracted from XBRL; inspect the linked filing for definitions, restatements, and context.; EBITDA is not established by the extracted GAAP statement fields and remains unknown.</a:t>
            </a:r>
            <a:br/>
            <a:br/>
            <a:r>
              <a:t>QUESTION:</a:t>
            </a:r>
            <a:br/>
            <a:r>
              <a:t>The decision question must be confirmed against the deal mandate and intended use of this analysis.</a:t>
            </a:r>
            <a:br/>
            <a:br/>
            <a:r>
              <a:t>AI SYNTHESIS (NOT A RECORDED DECISION):</a:t>
            </a:r>
            <a:br/>
            <a:r>
              <a:t>No recommendation recorded; human review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Recorded Financial Metrics &amp; Evidence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Target: Microsoft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Revenue: $331.8bn | FY2026 | reported_source_linked | S5</a:t>
            </a:r>
            <a:br/>
            <a:r>
              <a:t>Operating Margin Percent: 46.78% | FY2026 | derived_source_linked | S5</a:t>
            </a:r>
            <a:br/>
            <a:r>
              <a:t>Operating Income: $155.2bn | FY2026 | reported_source_linked | S5</a:t>
            </a:r>
            <a:br/>
            <a:r>
              <a:t>Free Cash Flow: $67.0bn | FY2026 | derived_source_linked | S5</a:t>
            </a:r>
            <a:br/>
            <a:r>
              <a:t>Operating Cash Flow: $182.9bn | FY2026 | reported_source_linked | S5</a:t>
            </a:r>
            <a:br/>
            <a:r>
              <a:t>Long Term Debt: $40.3bn | FY2026 | reported_source_linked | S5</a:t>
            </a:r>
            <a:br/>
            <a:r>
              <a:t>Cash: $20.9bn | FY2026 | reported_source_linked | S5</a:t>
            </a:r>
            <a:br/>
            <a:r>
              <a:t>Net Income: $133.7bn | FY2026 | reported_source_linked | S5</a:t>
            </a:r>
            <a:br/>
            <a:r>
              <a:t>Revenue Yoy Percent: 17.79% | FY2026 | derived_source_linked | S5</a:t>
            </a:r>
            <a:br/>
            <a:r>
              <a:t>Gross Profit: $225.5bn | FY2026 | reported_source_linked | S5</a:t>
            </a:r>
            <a:br/>
            <a:r>
              <a:t>Gross Margin Percent: 67.94% | FY2026 | derived_source_linked | S5</a:t>
            </a:r>
            <a:br/>
            <a:r>
              <a:t>Capital Expenditures: $115.9bn | FY2026 | reported_source_linked | S5</a:t>
            </a:r>
            <a:br/>
            <a:r>
              <a:t>Revenue: $198.3bn | FY2022 | reported_source_linked | S1</a:t>
            </a:r>
            <a:br/>
            <a:r>
              <a:t>Gross Profit: $135.6bn | FY2022 | reported_source_linked | 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70C0"/>
                </a:solidFill>
              </a:defRPr>
            </a:pPr>
            <a:r>
              <a:t>Recorded values are not verified unless a source citation is shown.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Takeaways &amp; Strategic Fit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Target: Microsoft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0C0"/>
                </a:solidFill>
              </a:defRPr>
            </a:pPr>
            <a:r>
              <a:t>■ 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Reported revenue increased from 198,270,000,000 in FY2022 to 331,839,000,000 in FY2026; the derived CAGR was 13.74% ([S1] [S5]). This is historical growth, not a forecast.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0C0"/>
                </a:solidFill>
              </a:defRPr>
            </a:pPr>
            <a:r>
              <a:t>■ Growth trajectory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Revenue growth accelerated by 2.86 percentage points, from 14.93% in FY2025 to 17.79% in FY2026 ([S4] [S5]).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0C0"/>
                </a:solidFill>
              </a:defRPr>
            </a:pPr>
            <a:r>
              <a:t>■ Operating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Reported operating margin changed by +4.72 percentage points, from 42.06% in FY2022 to 46.78% in FY2026 ([S1] [S5]). This is a historical comparison, not a causal explanation.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Final Recommendation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SEC company-facts values are extracted from XBRL; inspect the linked filing for definitions, restatements, and context.</a:t>
            </a:r>
            <a:br/>
            <a:br/>
            <a:r>
              <a:t>EBITDA is not established by the extracted GAAP statement fields and remains unknown.</a:t>
            </a:r>
            <a:br/>
            <a:br/>
            <a:r>
              <a:t>This deterministic fallback does not generate a valuation or transaction recommendation.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08080"/>
                </a:solidFill>
              </a:defRPr>
            </a:pPr>
            <a:r>
              <a:t>This report was generated by DealForge AI Multi-Agent system incorporating McKinsey-style visualizations.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Source Register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Target: Microsoft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[S1] MICROSOFT CORPORATION 10-K | 2022 | filed 2022-07-28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70C0"/>
                </a:solidFill>
                <a:hlinkClick r:id="rId2"/>
              </a:rPr>
              <a:t>https://www.sec.gov/Archives/edgar/data/789019/000156459022026876/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1226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[S2] MICROSOFT CORPORATION 10-K | 2023 | filed 2023-07-27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86584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70C0"/>
                </a:solidFill>
                <a:hlinkClick r:id="rId3"/>
              </a:rPr>
              <a:t>https://www.sec.gov/Archives/edgar/data/789019/000095017023035122/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986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[S3] MICROSOFT CORPORATION 10-K | 2024 | filed 2024-07-30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72968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70C0"/>
                </a:solidFill>
                <a:hlinkClick r:id="rId4"/>
              </a:rPr>
              <a:t>https://www.sec.gov/Archives/edgar/data/789019/000095017024087843/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85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[S4] MICROSOFT CORPORATION 10-K | 2025 | filed 2025-07-30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59352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70C0"/>
                </a:solidFill>
                <a:hlinkClick r:id="rId5"/>
              </a:rPr>
              <a:t>https://www.sec.gov/Archives/edgar/data/789019/000095017025100235/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714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t>[S5] MICROSOFT CORPORATION 10-K | 2026 | filed 2026-07-29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45736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70C0"/>
                </a:solidFill>
                <a:hlinkClick r:id="rId6"/>
              </a:rPr>
              <a:t>https://www.sec.gov/Archives/edgar/data/789019/000119312526323660/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